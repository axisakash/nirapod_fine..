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thesis title. Nirapod Fine is the prototype we built to check whether a Bangladeshi traffic fine receipt is legally 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systems stop at detection. The gap this thesis addresses is legal consistency of the notice, and reporting uncertainty rather than guessing.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objectives in the book; condensed here to five. The five research questions map to the evaluation stages that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design decision: separate extraction from legal reasoning. Supports Bangla, English and mixed receipts. The user confirmation step is what protects against reading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Stack: Next.js frontend, FastAPI backend, PostgreSQL, an external AI model for reading and wording, SHA-256 and Solidity for integrity. Rules are versioned so a result can be tied to the exact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Separating the stages lets us see whether errors come from the rule engine or from reading the receipt.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facts are supplied correctly the engine is reliable and conservative. Its weak spots are language variation: paraphrased and Bangla descriptions.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96.4 percent, section 89.3 percent. Amount 69.6 and date 66.1 are the weakest, and they matter most legally. That is why the user confirmation step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 56 receipts: 26 correct, 13 rule-engine errors, 12 receipt-reading errors, 5 with both. Accuracy drops from 71.4 to 46.4 because extraction errors flow into legal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of cases in percent. The hybrid is more conservative by design. For a legal support tool, an erroneous automatic approval is much worse than sending a case to a human. This is why we describe it as a verification assistant, not an autonomous decision maker.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option: upload a sample receipt, review the AI-read fields, then show the verdict. Hashing detects later changes, but does not prove the original rule or input was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the limits: a decision-support tool, not a replacement for legal authority.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take-aways,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uboss/Files/Projects/Thesis/poster_assets/aiu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916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AI-Based Legal Advisory System for Traffic Violation Verification Using Official Traffic Regulations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108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3B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Nirapod Fine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03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Amin Hossain Nahid (22-49627-3)  ·  Chowdhury Shakil Hasan (22-49631-3)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Rakibul Islam Akash (23-50363-1)  ·  Abdullah Al Rafe Ayon (22-49628-3)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Faculty of Science and Technology  ·  AIUB  ·  CSE 4298 Thesis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a violation is not verifying a fine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traffic systems detect violations, but do not confirm that the offence, cited section and fine amount are consistent with the law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notice may carry a wrong offence, a wrong section, an excessive fine or a missed exception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have no easy way to check a notice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legal AI can sound confident while being unsupported, so legal reasoning must be controlled</a:t>
            </a:r>
            <a:endParaRPr lang="en-US" sz="1600" dirty="0"/>
          </a:p>
        </p:txBody>
      </p:sp>
      <p:sp>
        <p:nvSpPr>
          <p:cNvPr id="4" name="Context card"/>
          <p:cNvSpPr/>
          <p:nvPr/>
        </p:nvSpPr>
        <p:spPr>
          <a:xfrm>
            <a:off x="5852160" y="1371600"/>
            <a:ext cx="2743200" cy="246888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0" y="1554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31,578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23317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road-traffic deaths in Bangladesh in 2021, 18.6 per 100,000 people (WHO)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and research questions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6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fields from receipt images, PDFs and URLs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structured Bangladesh offence and exception dataset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offence, section, fine, repeat offence and exceptions with a deterministic rule engine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results and route uncertain cases to human review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data and results with hashing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6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64592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 How accurately can receipt fields be extracted?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 How well can a rule engine verify consistency with the 2018 Act?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 How do extraction errors affect the final verdict?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 How can uncertain cases be sent to human review?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RQ5  How can results be protected without storing personal data on-chain?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system: AI reads, the rule engine decides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548640" y="1463040"/>
            <a:ext cx="1463040" cy="201168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4" name="Step number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PDF or URL receipt</a:t>
            </a:r>
            <a:endParaRPr lang="en-US" sz="1300" dirty="0"/>
          </a:p>
        </p:txBody>
      </p:sp>
      <p:sp>
        <p:nvSpPr>
          <p:cNvPr id="8" name="Step card 2"/>
          <p:cNvSpPr/>
          <p:nvPr/>
        </p:nvSpPr>
        <p:spPr>
          <a:xfrm>
            <a:off x="2194560" y="1463040"/>
            <a:ext cx="1463040" cy="201168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9" name="Step number"/>
          <p:cNvSpPr/>
          <p:nvPr/>
        </p:nvSpPr>
        <p:spPr>
          <a:xfrm>
            <a:off x="2331720" y="1600200"/>
            <a:ext cx="457200" cy="457200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317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6060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offence, amount, date, section</a:t>
            </a:r>
            <a:endParaRPr lang="en-US" sz="1300" dirty="0"/>
          </a:p>
        </p:txBody>
      </p:sp>
      <p:sp>
        <p:nvSpPr>
          <p:cNvPr id="13" name="Step card 3"/>
          <p:cNvSpPr/>
          <p:nvPr/>
        </p:nvSpPr>
        <p:spPr>
          <a:xfrm>
            <a:off x="3840480" y="1463040"/>
            <a:ext cx="1463040" cy="201168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4" name="Step number"/>
          <p:cNvSpPr/>
          <p:nvPr/>
        </p:nvSpPr>
        <p:spPr>
          <a:xfrm>
            <a:off x="3977640" y="1600200"/>
            <a:ext cx="457200" cy="457200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77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26060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checks and corrects fields</a:t>
            </a:r>
            <a:endParaRPr lang="en-US" sz="1300" dirty="0"/>
          </a:p>
        </p:txBody>
      </p:sp>
      <p:sp>
        <p:nvSpPr>
          <p:cNvPr id="18" name="Step card 4"/>
          <p:cNvSpPr/>
          <p:nvPr/>
        </p:nvSpPr>
        <p:spPr>
          <a:xfrm>
            <a:off x="5486400" y="1463040"/>
            <a:ext cx="1463040" cy="201168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9" name="Step number"/>
          <p:cNvSpPr/>
          <p:nvPr/>
        </p:nvSpPr>
        <p:spPr>
          <a:xfrm>
            <a:off x="5623560" y="1600200"/>
            <a:ext cx="457200" cy="457200"/>
          </a:xfrm>
          <a:prstGeom prst="ellipse">
            <a:avLst/>
          </a:prstGeom>
          <a:solidFill>
            <a:srgbClr val="C47F17"/>
          </a:solidFill>
          <a:ln w="12700">
            <a:solidFill>
              <a:srgbClr val="C47F1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235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26060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checks law and fine limits</a:t>
            </a:r>
            <a:endParaRPr lang="en-US" sz="1300" dirty="0"/>
          </a:p>
        </p:txBody>
      </p:sp>
      <p:sp>
        <p:nvSpPr>
          <p:cNvPr id="23" name="Step card 5"/>
          <p:cNvSpPr/>
          <p:nvPr/>
        </p:nvSpPr>
        <p:spPr>
          <a:xfrm>
            <a:off x="7132320" y="1463040"/>
            <a:ext cx="1463040" cy="201168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4" name="Step number"/>
          <p:cNvSpPr/>
          <p:nvPr/>
        </p:nvSpPr>
        <p:spPr>
          <a:xfrm>
            <a:off x="7269480" y="1600200"/>
            <a:ext cx="457200" cy="457200"/>
          </a:xfrm>
          <a:prstGeom prst="ellipse">
            <a:avLst/>
          </a:prstGeom>
          <a:solidFill>
            <a:srgbClr val="C47F17"/>
          </a:solidFill>
          <a:ln w="12700">
            <a:solidFill>
              <a:srgbClr val="C47F1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694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26060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and explanation, or manual review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</a:t>
            </a:r>
            <a:pPr indent="0" marL="0">
              <a:buNone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reading in steps 1 to 3, </a:t>
            </a:r>
            <a:pPr indent="0" marL="0">
              <a:buNone/>
            </a:pPr>
            <a:r>
              <a:rPr lang="en-US" sz="1500" b="1" dirty="0">
                <a:solidFill>
                  <a:srgbClr val="C4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pPr indent="0" marL="0">
              <a:buNone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legal reasoning in steps 4 and 5. The AI never decides legal validity; its explanation is checked against the rule-engine output.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dataset and rule engine</a:t>
            </a:r>
            <a:endParaRPr lang="en-US" sz="3200" dirty="0"/>
          </a:p>
        </p:txBody>
      </p:sp>
      <p:sp>
        <p:nvSpPr>
          <p:cNvPr id="3" name="Stat card"/>
          <p:cNvSpPr/>
          <p:nvPr/>
        </p:nvSpPr>
        <p:spPr>
          <a:xfrm>
            <a:off x="548640" y="1325880"/>
            <a:ext cx="1828800" cy="105156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842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offence rules</a:t>
            </a:r>
            <a:endParaRPr lang="en-US" sz="1300" dirty="0"/>
          </a:p>
        </p:txBody>
      </p:sp>
      <p:sp>
        <p:nvSpPr>
          <p:cNvPr id="6" name="Stat card"/>
          <p:cNvSpPr/>
          <p:nvPr/>
        </p:nvSpPr>
        <p:spPr>
          <a:xfrm>
            <a:off x="2560320" y="1325880"/>
            <a:ext cx="1828800" cy="105156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4173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9842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rules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603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from the Road Transport Act, 2018 and a selected exceptions guide. Each rule stores section, fine limits, synonyms, keywords and conditions. Dataset versions are read-only during analysis.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6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checks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6916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Offence matching and cited section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limits and tier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Repeat-offence conditions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exceptions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6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Possible outcomes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3375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· Fine too high · Reason mismatch · Exception possible · Exception not applicable · Needs manual review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Four-stage evaluation</a:t>
            </a:r>
            <a:endParaRPr lang="en-US" sz="3200" dirty="0"/>
          </a:p>
        </p:txBody>
      </p:sp>
      <p:sp>
        <p:nvSpPr>
          <p:cNvPr id="3" name="Stage card A"/>
          <p:cNvSpPr/>
          <p:nvPr/>
        </p:nvSpPr>
        <p:spPr>
          <a:xfrm>
            <a:off x="548640" y="1371600"/>
            <a:ext cx="3931920" cy="132588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Typed-field rule engine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manually labelled cases</a:t>
            </a:r>
            <a:endParaRPr lang="en-US" sz="1400" dirty="0"/>
          </a:p>
        </p:txBody>
      </p:sp>
      <p:sp>
        <p:nvSpPr>
          <p:cNvPr id="7" name="Stage card B"/>
          <p:cNvSpPr/>
          <p:nvPr/>
        </p:nvSpPr>
        <p:spPr>
          <a:xfrm>
            <a:off x="4663440" y="1371600"/>
            <a:ext cx="3931920" cy="132588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receipt reading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240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receipt images</a:t>
            </a:r>
            <a:endParaRPr lang="en-US" sz="1400" dirty="0"/>
          </a:p>
        </p:txBody>
      </p:sp>
      <p:sp>
        <p:nvSpPr>
          <p:cNvPr id="11" name="Stage card C"/>
          <p:cNvSpPr/>
          <p:nvPr/>
        </p:nvSpPr>
        <p:spPr>
          <a:xfrm>
            <a:off x="548640" y="2926080"/>
            <a:ext cx="3931920" cy="132588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337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images, image to verdict</a:t>
            </a:r>
            <a:endParaRPr lang="en-US" sz="1400" dirty="0"/>
          </a:p>
        </p:txBody>
      </p:sp>
      <p:sp>
        <p:nvSpPr>
          <p:cNvPr id="15" name="Stage card D"/>
          <p:cNvSpPr/>
          <p:nvPr/>
        </p:nvSpPr>
        <p:spPr>
          <a:xfrm>
            <a:off x="4663440" y="2926080"/>
            <a:ext cx="3931920" cy="132588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337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AI-only baseline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56 images, no rule engine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verdict accuracy, precision, recall, macro F1, field accuracy, section top-1 and top-3, decision quality, processing time.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engine on typed fields (n = 224)</a:t>
            </a:r>
            <a:endParaRPr lang="en-US" sz="3200" dirty="0"/>
          </a:p>
        </p:txBody>
      </p:sp>
      <p:sp>
        <p:nvSpPr>
          <p:cNvPr id="3" name="Stat card"/>
          <p:cNvSpPr/>
          <p:nvPr/>
        </p:nvSpPr>
        <p:spPr>
          <a:xfrm>
            <a:off x="548640" y="1280160"/>
            <a:ext cx="1828800" cy="105156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71.4%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385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accuracy</a:t>
            </a:r>
            <a:endParaRPr lang="en-US" sz="1300" dirty="0"/>
          </a:p>
        </p:txBody>
      </p:sp>
      <p:sp>
        <p:nvSpPr>
          <p:cNvPr id="6" name="Stat card"/>
          <p:cNvSpPr/>
          <p:nvPr/>
        </p:nvSpPr>
        <p:spPr>
          <a:xfrm>
            <a:off x="2560320" y="1280160"/>
            <a:ext cx="1828800" cy="105156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371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0.722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9385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</a:t>
            </a:r>
            <a:endParaRPr lang="en-US" sz="1300" dirty="0"/>
          </a:p>
        </p:txBody>
      </p:sp>
      <p:sp>
        <p:nvSpPr>
          <p:cNvPr id="9" name="Stat card"/>
          <p:cNvSpPr/>
          <p:nvPr/>
        </p:nvSpPr>
        <p:spPr>
          <a:xfrm>
            <a:off x="548640" y="2514600"/>
            <a:ext cx="1828800" cy="105156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606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6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1729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fine too high</a:t>
            </a:r>
            <a:endParaRPr lang="en-US" sz="1300" dirty="0"/>
          </a:p>
        </p:txBody>
      </p:sp>
      <p:sp>
        <p:nvSpPr>
          <p:cNvPr id="12" name="Stat card"/>
          <p:cNvSpPr/>
          <p:nvPr/>
        </p:nvSpPr>
        <p:spPr>
          <a:xfrm>
            <a:off x="2560320" y="2514600"/>
            <a:ext cx="1828800" cy="105156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2606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6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0.957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31729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manual review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for accuracy: 65.2% to 76.9%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32588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accuracy for missing-amount, no-ceiling and below-minimum groups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on paraphrased (59.3%) and Bangla (66.7%) descriptions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matching: top-1 79.3%, top-3 100% on standard cases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errors are cautious referrals to manual review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Receipt reading accuracy by field</a:t>
            </a:r>
            <a:endParaRPr lang="en-US" sz="3200" dirty="0"/>
          </a:p>
        </p:txBody>
      </p:sp>
      <p:pic>
        <p:nvPicPr>
          <p:cNvPr id="3" name="Field accuracy chart" descr="Bar chart of field-level extraction accurac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4937760" cy="3291840"/>
          </a:xfrm>
          <a:prstGeom prst="rect">
            <a:avLst/>
          </a:prstGeom>
        </p:spPr>
      </p:pic>
      <p:sp>
        <p:nvSpPr>
          <p:cNvPr id="4" name="Stat card"/>
          <p:cNvSpPr/>
          <p:nvPr/>
        </p:nvSpPr>
        <p:spPr>
          <a:xfrm>
            <a:off x="6035040" y="1325880"/>
            <a:ext cx="2560320" cy="105156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0" y="14173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 / 56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9842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processed</a:t>
            </a:r>
            <a:endParaRPr lang="en-US" sz="1300" dirty="0"/>
          </a:p>
        </p:txBody>
      </p:sp>
      <p:sp>
        <p:nvSpPr>
          <p:cNvPr id="7" name="Stat card"/>
          <p:cNvSpPr/>
          <p:nvPr/>
        </p:nvSpPr>
        <p:spPr>
          <a:xfrm>
            <a:off x="6035040" y="2514600"/>
            <a:ext cx="2560320" cy="105156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0" y="2606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 s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31729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per image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3749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and date errors change the legal outcome, so user confirmation is essential.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end: reading errors propagate</a:t>
            </a:r>
            <a:endParaRPr lang="en-US" sz="3200" dirty="0"/>
          </a:p>
        </p:txBody>
      </p:sp>
      <p:pic>
        <p:nvPicPr>
          <p:cNvPr id="3" name="Error sources chart" descr="Doughnut chart: 26 correct, 13 rule-engine errors, 12 reader errors, 5 bo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206240" cy="3474720"/>
          </a:xfrm>
          <a:prstGeom prst="rect">
            <a:avLst/>
          </a:prstGeom>
        </p:spPr>
      </p:pic>
      <p:sp>
        <p:nvSpPr>
          <p:cNvPr id="4" name="Stat card"/>
          <p:cNvSpPr/>
          <p:nvPr/>
        </p:nvSpPr>
        <p:spPr>
          <a:xfrm>
            <a:off x="5120640" y="1325880"/>
            <a:ext cx="3474720" cy="105156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0" y="14173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46.4%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303520" y="19842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accuracy (95% CI 34.0 to 59.3)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26060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of 56 receipts fully correct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misread amount can turn a valid fine into "too high"; a misread section causes a section mismatch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whole pipeline matters, not the rule engine alone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is not the whole story</a:t>
            </a:r>
            <a:endParaRPr lang="en-US" sz="3200" dirty="0"/>
          </a:p>
        </p:txBody>
      </p:sp>
      <p:pic>
        <p:nvPicPr>
          <p:cNvPr id="3" name="Decision quality chart" descr="Stacked bars: correct, manual review and confident error share per syst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212080" cy="30723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943600" y="1280160"/>
            <a:ext cx="2651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AI-only baseline had higher direct accuracy (71.4% vs 46.4%), but answers even when the receipt is incomplete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referred 27 uncertain cases to humans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Firm-decision accuracy 88.5%, with no false approvals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automatic approval is worse than a referral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prototype, explanations and integrity</a:t>
            </a:r>
            <a:endParaRPr lang="en-US" sz="3200" dirty="0"/>
          </a:p>
        </p:txBody>
      </p:sp>
      <p:pic>
        <p:nvPicPr>
          <p:cNvPr id="3" name="Result screen" descr="/Users/aluboss/Files/Projects/Thesis/poster_assets/ui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4937760" cy="28112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60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screen: verdict, section, allowed fine and checked explanation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32588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are written from matched rules only and cannot mention a section or amount the rules did not produce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hashes of case, dataset and result support later integrity checks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blockchain audit stores hashes only, no readable receipt or personal data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work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6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scope: 2018 Act and one exceptions guide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evaluation set with limited receipt diversity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workflow built but not tested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amounts and Bangla text error-prone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tested locally only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6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64592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amendments and gazette updates to the dataset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larger, real receipt sets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Bangla OCR and number recognition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several AI models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studies with drivers, officers and legal experts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AI reading from deterministic legal reasoning is practical and explainable.</a:t>
            </a:r>
            <a:endParaRPr lang="en-US" sz="18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engine: 71.4% verdict accuracy. Full pipeline: 46.4%, limited by extraction.</a:t>
            </a:r>
            <a:endParaRPr lang="en-US" sz="18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cases go to humans, with no false approvals on the image set.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legal verification assistant, not an autonomous decision maker.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3B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sis Minimal">
  <a:themeElements>
    <a:clrScheme name="Thesis Minimal">
      <a:dk1>
        <a:srgbClr val="1E2A36"/>
      </a:dk1>
      <a:lt1>
        <a:srgbClr val="FFFFFF"/>
      </a:lt1>
      <a:dk2>
        <a:srgbClr val="14304F"/>
      </a:dk2>
      <a:lt2>
        <a:srgbClr val="F2F5F8"/>
      </a:lt2>
      <a:accent1>
        <a:srgbClr val="2F6690"/>
      </a:accent1>
      <a:accent2>
        <a:srgbClr val="C47F17"/>
      </a:accent2>
      <a:accent3>
        <a:srgbClr val="5B6773"/>
      </a:accent3>
      <a:accent4>
        <a:srgbClr val="3F8F6B"/>
      </a:accent4>
      <a:accent5>
        <a:srgbClr val="8A4F7D"/>
      </a:accent5>
      <a:accent6>
        <a:srgbClr val="A33B3B"/>
      </a:accent6>
      <a:hlink>
        <a:srgbClr val="2F6690"/>
      </a:hlink>
      <a:folHlink>
        <a:srgbClr val="5B6773"/>
      </a:folHlink>
    </a:clrScheme>
    <a:fontScheme name="Thesis Minim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Nirapod Fine - Thesis Presentation</dc:title>
  <dc:subject>PptxGenJS Presentation</dc:subject>
  <dc:creator>PptxGenJS</dc:creator>
  <cp:lastModifiedBy>PptxGenJS</cp:lastModifiedBy>
  <cp:revision>1</cp:revision>
  <dcterms:created xsi:type="dcterms:W3CDTF">2026-10-27T17:15:12Z</dcterms:created>
  <dcterms:modified xsi:type="dcterms:W3CDTF">2026-10-27T17:15:12Z</dcterms:modified>
</cp:coreProperties>
</file>